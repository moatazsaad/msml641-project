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62" y="7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696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 in one sentence: TerpLoad helps students understand whether their planned course combinations may become too heavy before registration. Mention roles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persona is not all students: it is UMD CS/STEM students planning technical course combinations. The user pain comes from course stacking.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be honest: we have real artifacts and a working risk rules layer, but the trained classifier is not finished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envisioned end product. The output is a report, not just a model label. It should be clear and actionable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professor said user validation is the part they most want to see. Keep this slide grounded in the four interviews and what students actually said.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with claims. The progress is good for midterm, but the classifier is not done. The point is to show trajectory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decision: persevere. The plan is not a finished product now, but a realistic path to demo day. Ask for feedback on scope and model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TerpLoad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Workload-risk awareness for UMD CS/STEM schedules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One-line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2176272"/>
            <a:ext cx="5760720" cy="91440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</a:rPr>
              <a:t>We help students see why a planned course combination may be risky before registration.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Team roles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005072"/>
            <a:ext cx="4663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 err="1">
                <a:solidFill>
                  <a:srgbClr val="0F172A"/>
                </a:solidFill>
              </a:rPr>
              <a:t>Abhiram</a:t>
            </a:r>
            <a:r>
              <a:rPr lang="en-US" sz="1300" dirty="0">
                <a:solidFill>
                  <a:srgbClr val="0F172A"/>
                </a:solidFill>
              </a:rPr>
              <a:t> Metuku — Data &amp; Evaluation</a:t>
            </a:r>
          </a:p>
          <a:p>
            <a:pPr marL="127000" indent="-127000">
              <a:buSzPct val="100000"/>
              <a:buFontTx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Moataz Abdelaziz — Product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Sriram Vema —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960120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Course plan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CMSC330 + CMSC351 + STAT400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79992" y="1325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46920" y="960120"/>
            <a:ext cx="20574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Workload signals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projects • exams •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42448" y="24871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01000" y="2971800"/>
            <a:ext cx="3291840" cy="1280160"/>
          </a:xfrm>
          <a:prstGeom prst="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Schedule risk report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Low / Medium / High + reasons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user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212080" cy="960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</a:rPr>
              <a:t>Target user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</a:rPr>
              <a:t>UMD CS/STEM students planning a required or workload-heavy semester.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Specific pain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Students can judge single hard classes, but struggle to judge the full combination.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3730752"/>
            <a:ext cx="48463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Project deadlines stack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Exams cluster across courses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Advice changes by professor/semester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Friends and Reddit are useful but incomplete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234440"/>
            <a:ext cx="48920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</a:rPr>
              <a:t>Current hacks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</a:rPr>
              <a:t>Friends • PlanetTerp • Reddit • advisors • old GroupMes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92040" cy="123444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</a:rPr>
              <a:t>What users wanted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</a:rPr>
              <a:t>More clarity on project workload, exam difficulty, weekly time commitment, and course structure.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4069080"/>
            <a:ext cx="4892040" cy="96012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</a:rPr>
              <a:t>Core insight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</a:rPr>
              <a:t>The risk is usually the schedule combination, not only one course.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built so far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Current MVP pieces and real artifacts in the repo.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627632" cy="89611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Course list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initial_course_list.csv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258568" y="1673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→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606040" y="1417320"/>
            <a:ext cx="1627632" cy="896112"/>
          </a:xfrm>
          <a:prstGeom prst="rect">
            <a:avLst/>
          </a:prstGeom>
          <a:solidFill>
            <a:srgbClr val="F0FDF4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Reviews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PlanetTerp API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70248" y="1673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→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17720" y="1417320"/>
            <a:ext cx="1627632" cy="896112"/>
          </a:xfrm>
          <a:prstGeom prst="rect">
            <a:avLst/>
          </a:prstGeom>
          <a:solidFill>
            <a:srgbClr val="FEFCE8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Clean 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255 reviews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1928" y="1673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→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1417320"/>
            <a:ext cx="1627632" cy="896112"/>
          </a:xfrm>
          <a:prstGeom prst="rect">
            <a:avLst/>
          </a:prstGeom>
          <a:solidFill>
            <a:srgbClr val="F5F3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Labels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4 workload signals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93608" y="1673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→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41080" y="1417320"/>
            <a:ext cx="1627632" cy="896112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Risk rules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risk_rules.py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Evidence in repo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218688"/>
            <a:ext cx="58521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0F172A"/>
                </a:solidFill>
              </a:rPr>
              <a:t>`src/collect_planetterp_reviews.py` collects PlanetTerp reviews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0F172A"/>
                </a:solidFill>
              </a:rPr>
              <a:t>`data/raw_planetterp.csv` / cleaned review files support the data pipeline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0F172A"/>
                </a:solidFill>
              </a:rPr>
              <a:t>`data/labeled_reviews_sample.csv` and pilot labels test the schema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0F172A"/>
                </a:solidFill>
              </a:rPr>
              <a:t>`src/risk_rules.py` converts labels into schedule risk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0F172A"/>
                </a:solidFill>
              </a:rPr>
              <a:t>`src/test_risk_rules.py` checks basic Low / Medium / High behavior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99516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What is real today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3218688"/>
            <a:ext cx="4480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</a:rPr>
              <a:t>We can run the risk-rule layer today.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</a:rPr>
              <a:t>It takes course-level workload labels and returns a Low / Medium / High risk level with reasons.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995160" y="4617720"/>
            <a:ext cx="4480560" cy="105156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/>
          <a:lstStyle/>
          <a:p>
            <a:r>
              <a:rPr sz="1100"/>
              <a:t>A fully trained end-to-end classifier is still in progress.</a:t>
            </a:r>
          </a:p>
          <a:p/>
          <a:p>
            <a:r>
              <a:rPr sz="1100"/>
              <a:t>Team progress: Data &amp; Evaluation — reviews, pilot labels, audit; Engineering — TF-IDF, DistilBERT, risk output; Product — MVP, report structure, tests.</a:t>
            </a:r>
          </a:p>
        </p:txBody>
      </p:sp>
      <p:sp>
        <p:nvSpPr>
          <p:cNvPr id="18" name="Text 16"/>
          <p:cNvSpPr/>
          <p:nvPr/>
        </p:nvSpPr>
        <p:spPr>
          <a:xfrm>
            <a:off x="530352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TerpLoad mid-semester checkpoint • 3/7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Envisioned end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Concrete picture of the student-facing report.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286000" cy="20574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Student 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CMSC330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CMSC351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STAT400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82112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730752" y="1234440"/>
            <a:ext cx="4087368" cy="4206240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440" dirty="0">
                <a:solidFill>
                  <a:srgbClr val="0F172A"/>
                </a:solidFill>
              </a:rPr>
              <a:t>TerpLoad report</a:t>
            </a:r>
            <a:endParaRPr lang="en-US" sz="1440" dirty="0"/>
          </a:p>
          <a:p>
            <a:pPr lvl="1"/>
            <a:endParaRPr lang="en-US" sz="1440" dirty="0"/>
          </a:p>
          <a:p>
            <a:pPr lvl="1"/>
            <a:r>
              <a:rPr lang="en-US" sz="1440" dirty="0">
                <a:solidFill>
                  <a:srgbClr val="0F172A"/>
                </a:solidFill>
              </a:rPr>
              <a:t>Overall risk: HIGH</a:t>
            </a:r>
            <a:endParaRPr lang="en-US" sz="1440" dirty="0"/>
          </a:p>
          <a:p>
            <a:pPr lvl="1"/>
            <a:endParaRPr lang="en-US" sz="1440" dirty="0"/>
          </a:p>
          <a:p>
            <a:pPr lvl="1"/>
            <a:r>
              <a:rPr lang="en-US" sz="1440" dirty="0">
                <a:solidFill>
                  <a:srgbClr val="0F172A"/>
                </a:solidFill>
              </a:rPr>
              <a:t>Why:</a:t>
            </a:r>
            <a:endParaRPr lang="en-US" sz="1440" dirty="0"/>
          </a:p>
          <a:p>
            <a:pPr lvl="1"/>
            <a:r>
              <a:rPr lang="en-US" sz="1440" dirty="0">
                <a:solidFill>
                  <a:srgbClr val="0F172A"/>
                </a:solidFill>
              </a:rPr>
              <a:t>• CMSC330 appears project-heavy and time-consuming</a:t>
            </a:r>
            <a:endParaRPr lang="en-US" sz="1440" dirty="0"/>
          </a:p>
          <a:p>
            <a:pPr lvl="1"/>
            <a:r>
              <a:rPr lang="en-US" sz="1440" dirty="0">
                <a:solidFill>
                  <a:srgbClr val="0F172A"/>
                </a:solidFill>
              </a:rPr>
              <a:t>• CMSC351 appears exam-heavy</a:t>
            </a:r>
            <a:endParaRPr lang="en-US" sz="1440" dirty="0"/>
          </a:p>
          <a:p>
            <a:pPr lvl="1"/>
            <a:r>
              <a:rPr lang="en-US" sz="1440" dirty="0">
                <a:solidFill>
                  <a:srgbClr val="0F172A"/>
                </a:solidFill>
              </a:rPr>
              <a:t>• STAT400 adds exam pressure</a:t>
            </a:r>
            <a:endParaRPr lang="en-US" sz="1440" dirty="0"/>
          </a:p>
          <a:p>
            <a:pPr lvl="1"/>
            <a:r>
              <a:rPr lang="en-US" sz="1440" dirty="0">
                <a:solidFill>
                  <a:srgbClr val="0F172A"/>
                </a:solidFill>
              </a:rPr>
              <a:t>• Multiple exam-heavy courses may stack badly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804672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32520" y="1508760"/>
            <a:ext cx="2743200" cy="25146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550" b="1" dirty="0">
                <a:solidFill>
                  <a:srgbClr val="0F172A"/>
                </a:solidFill>
              </a:rPr>
              <a:t>Student value</a:t>
            </a:r>
            <a:endParaRPr lang="en-US" sz="1550" dirty="0"/>
          </a:p>
          <a:p>
            <a:pPr lvl="1"/>
            <a:endParaRPr lang="en-US" sz="1550" dirty="0"/>
          </a:p>
          <a:p>
            <a:pPr lvl="1"/>
            <a:r>
              <a:rPr lang="en-US" sz="1550" b="1" dirty="0">
                <a:solidFill>
                  <a:srgbClr val="0F172A"/>
                </a:solidFill>
              </a:rPr>
              <a:t>Prepare early for projects and exams.</a:t>
            </a:r>
            <a:endParaRPr lang="en-US" sz="1550" dirty="0"/>
          </a:p>
          <a:p>
            <a:pPr lvl="1"/>
            <a:endParaRPr lang="en-US" sz="1550" dirty="0"/>
          </a:p>
          <a:p>
            <a:pPr lvl="1"/>
            <a:r>
              <a:rPr lang="en-US" sz="1550" b="1" dirty="0">
                <a:solidFill>
                  <a:srgbClr val="0F172A"/>
                </a:solidFill>
              </a:rPr>
              <a:t>Use the report as planning support, not official advising.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515600" cy="41148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MVP scope: a user can enter a small UMD CS/STEM schedule and get workload risk with main reasons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 users first: what we learned from four interviews.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45262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250" dirty="0">
                <a:solidFill>
                  <a:srgbClr val="0F172A"/>
                </a:solidFill>
              </a:rPr>
              <a:t>Applied ML</a:t>
            </a:r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MSML604 + 605 + 606</a:t>
            </a:r>
            <a:endParaRPr lang="en-US" sz="1250" dirty="0"/>
          </a:p>
          <a:p>
            <a:pPr lvl="1"/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Learned: Combo risk + unclear course structure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36208" y="1325880"/>
            <a:ext cx="4526280" cy="1371600"/>
          </a:xfrm>
          <a:prstGeom prst="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250" dirty="0">
                <a:solidFill>
                  <a:srgbClr val="0F172A"/>
                </a:solidFill>
              </a:rPr>
              <a:t>CS</a:t>
            </a:r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Programming languages + web dev + GenEds</a:t>
            </a:r>
            <a:endParaRPr lang="en-US" sz="1250" dirty="0"/>
          </a:p>
          <a:p>
            <a:pPr lvl="1"/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Learned: Projects plus exams/quizzes/essays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200400"/>
            <a:ext cx="45262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250" dirty="0">
                <a:solidFill>
                  <a:srgbClr val="0F172A"/>
                </a:solidFill>
              </a:rPr>
              <a:t>CS + Econ</a:t>
            </a:r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CMSC216 + CMSC250 + orgo + bio</a:t>
            </a:r>
            <a:endParaRPr lang="en-US" sz="1250" dirty="0"/>
          </a:p>
          <a:p>
            <a:pPr lvl="1"/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Learned: Planning for graduation created risky stacking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36208" y="3200400"/>
            <a:ext cx="4526280" cy="1371600"/>
          </a:xfrm>
          <a:prstGeom prst="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250" dirty="0">
                <a:solidFill>
                  <a:srgbClr val="0F172A"/>
                </a:solidFill>
              </a:rPr>
              <a:t>CS</a:t>
            </a:r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CMSC330 + CMSC351 + STAT400</a:t>
            </a:r>
            <a:endParaRPr lang="en-US" sz="1250" dirty="0"/>
          </a:p>
          <a:p>
            <a:pPr lvl="1"/>
            <a:endParaRPr lang="en-US" sz="1250" dirty="0"/>
          </a:p>
          <a:p>
            <a:pPr lvl="1"/>
            <a:r>
              <a:rPr lang="en-US" sz="1250" dirty="0">
                <a:solidFill>
                  <a:srgbClr val="0F172A"/>
                </a:solidFill>
              </a:rPr>
              <a:t>Learned: Advice was useful but semester/professor-specific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5349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Common pattern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52852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All four interviews supported the same core finding: students need workload-combination visibility before registration.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&amp; progress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North-star metric and current status.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4937760" cy="9144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600" b="1" dirty="0">
                <a:solidFill>
                  <a:srgbClr val="0F172A"/>
                </a:solidFill>
              </a:rPr>
              <a:t>North-star metric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F172A"/>
                </a:solidFill>
              </a:rPr>
              <a:t>Percent of students who say the workload risk explanation helps them plan their schedule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Current progress trend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Interviews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2057400" y="2907792"/>
            <a:ext cx="10972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172200" y="28803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4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Seed courses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057400" y="3346704"/>
            <a:ext cx="10972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72200" y="33192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10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Raw reviews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057400" y="3785616"/>
            <a:ext cx="397764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72200" y="37581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903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777240" y="41970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Cleaned reviews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2057400" y="4224528"/>
            <a:ext cx="112325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41970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255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77240" y="4636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Pilot labels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2057400" y="4663440"/>
            <a:ext cx="13214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72200" y="46360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30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7086600" y="1143000"/>
            <a:ext cx="438912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400" dirty="0">
                <a:solidFill>
                  <a:srgbClr val="0F172A"/>
                </a:solidFill>
              </a:rPr>
              <a:t>What is completed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0F172A"/>
                </a:solidFill>
              </a:rPr>
              <a:t>• Problem validated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0F172A"/>
                </a:solidFill>
              </a:rPr>
              <a:t>• Data pipeline started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0F172A"/>
                </a:solidFill>
              </a:rPr>
              <a:t>• Four-label schema set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0F172A"/>
                </a:solidFill>
              </a:rPr>
              <a:t>• Risk-rule baseline works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063240"/>
            <a:ext cx="4389120" cy="1600200"/>
          </a:xfrm>
          <a:prstGeom prst="rect">
            <a:avLst/>
          </a:prstGeom>
          <a:solidFill>
            <a:srgbClr val="FEFCE8"/>
          </a:solidFill>
          <a:ln>
            <a:solidFill>
              <a:srgbClr val="FDE68A"/>
            </a:solidFill>
          </a:ln>
        </p:spPr>
        <p:txBody>
          <a:bodyPr wrap="square" lIns="1524" tIns="1524" rIns="1524" bIns="1524" rtlCol="0" anchor="ctr"/>
          <a:lstStyle/>
          <a:p>
            <a:r>
              <a:rPr sz="1300"/>
              <a:t>What is in progress</a:t>
            </a:r>
          </a:p>
          <a:p>
            <a:r>
              <a:rPr sz="1300"/>
              <a:t>• Label audit by Data &amp; Evaluation</a:t>
            </a:r>
          </a:p>
          <a:p>
            <a:r>
              <a:rPr sz="1300"/>
              <a:t>• TF-IDF baseline by Engineering</a:t>
            </a:r>
          </a:p>
          <a:p>
            <a:r>
              <a:rPr sz="1300"/>
              <a:t>• DistilBERT skeleton by Engineering</a:t>
            </a:r>
          </a:p>
          <a:p>
            <a:r>
              <a:rPr sz="1300"/>
              <a:t>• End-to-end report structure by Product + Engineering</a:t>
            </a:r>
          </a:p>
        </p:txBody>
      </p:sp>
      <p:sp>
        <p:nvSpPr>
          <p:cNvPr id="23" name="Text 21"/>
          <p:cNvSpPr/>
          <p:nvPr/>
        </p:nvSpPr>
        <p:spPr>
          <a:xfrm>
            <a:off x="7086600" y="5074920"/>
            <a:ext cx="4389120" cy="59436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/>
          <a:lstStyle/>
          <a:p>
            <a:pPr lvl="1"/>
            <a:r>
              <a:rPr lang="en-US" sz="1450" b="1" dirty="0">
                <a:solidFill>
                  <a:srgbClr val="0F172A"/>
                </a:solidFill>
              </a:rPr>
              <a:t>The trained classifier and full product are not complete yet.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Persevere +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3840480" cy="146304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</a:rPr>
              <a:t>Decision: Persevere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</a:rPr>
              <a:t>Why: user interviews, course reviews, and early labels all support the same pain: schedule workload stacking.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4920" y="1207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Plan for second half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4920" y="1600200"/>
            <a:ext cx="822960" cy="256032"/>
          </a:xfrm>
          <a:prstGeom prst="rect">
            <a:avLst/>
          </a:prstGeom>
          <a:solidFill>
            <a:srgbClr val="E0E7FF"/>
          </a:solidFill>
          <a:ln>
            <a:solidFill>
              <a:srgbClr val="E0E7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Week 8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035040" y="161848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Audit labels + finalize training dataset — Data &amp; Evaluation</a:t>
            </a:r>
          </a:p>
        </p:txBody>
      </p:sp>
      <p:sp>
        <p:nvSpPr>
          <p:cNvPr id="8" name="Text 6"/>
          <p:cNvSpPr/>
          <p:nvPr/>
        </p:nvSpPr>
        <p:spPr>
          <a:xfrm>
            <a:off x="5074920" y="2313432"/>
            <a:ext cx="822960" cy="256032"/>
          </a:xfrm>
          <a:prstGeom prst="rect">
            <a:avLst/>
          </a:prstGeom>
          <a:solidFill>
            <a:srgbClr val="E0E7FF"/>
          </a:solidFill>
          <a:ln>
            <a:solidFill>
              <a:srgbClr val="E0E7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Week 9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035040" y="233172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Run TF-IDF baseline + first metrics — Engineering</a:t>
            </a:r>
          </a:p>
        </p:txBody>
      </p:sp>
      <p:sp>
        <p:nvSpPr>
          <p:cNvPr id="10" name="Text 8"/>
          <p:cNvSpPr/>
          <p:nvPr/>
        </p:nvSpPr>
        <p:spPr>
          <a:xfrm>
            <a:off x="5074920" y="3026664"/>
            <a:ext cx="822960" cy="256032"/>
          </a:xfrm>
          <a:prstGeom prst="rect">
            <a:avLst/>
          </a:prstGeom>
          <a:solidFill>
            <a:srgbClr val="E0E7FF"/>
          </a:solidFill>
          <a:ln>
            <a:solidFill>
              <a:srgbClr val="E0E7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Week 10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035040" y="3044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Try DistilBERT / improve errors — Engineering</a:t>
            </a:r>
          </a:p>
        </p:txBody>
      </p:sp>
      <p:sp>
        <p:nvSpPr>
          <p:cNvPr id="12" name="Text 10"/>
          <p:cNvSpPr/>
          <p:nvPr/>
        </p:nvSpPr>
        <p:spPr>
          <a:xfrm>
            <a:off x="5074920" y="3739896"/>
            <a:ext cx="822960" cy="256032"/>
          </a:xfrm>
          <a:prstGeom prst="rect">
            <a:avLst/>
          </a:prstGeom>
          <a:solidFill>
            <a:srgbClr val="E0E7FF"/>
          </a:solidFill>
          <a:ln>
            <a:solidFill>
              <a:srgbClr val="E0E7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Week 11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035040" y="375818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Connect predictions to report — Product + Engineering</a:t>
            </a:r>
          </a:p>
        </p:txBody>
      </p:sp>
      <p:sp>
        <p:nvSpPr>
          <p:cNvPr id="14" name="Text 12"/>
          <p:cNvSpPr/>
          <p:nvPr/>
        </p:nvSpPr>
        <p:spPr>
          <a:xfrm>
            <a:off x="5074920" y="4453128"/>
            <a:ext cx="822960" cy="256032"/>
          </a:xfrm>
          <a:prstGeom prst="rect">
            <a:avLst/>
          </a:prstGeom>
          <a:solidFill>
            <a:srgbClr val="E0E7FF"/>
          </a:solidFill>
          <a:ln>
            <a:solidFill>
              <a:srgbClr val="E0E7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Week 12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035040" y="447141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Demo + final evaluation — Team</a:t>
            </a:r>
          </a:p>
        </p:txBody>
      </p:sp>
      <p:sp>
        <p:nvSpPr>
          <p:cNvPr id="16" name="Text 14"/>
          <p:cNvSpPr/>
          <p:nvPr/>
        </p:nvSpPr>
        <p:spPr>
          <a:xfrm>
            <a:off x="713232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Feedback we want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493008"/>
            <a:ext cx="3794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Are four labels enough for the MVP?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What is the minimum acceptable demo?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Should we prioritize TF-IDF reliability or DistilBERT improvement?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43200" y="5577840"/>
            <a:ext cx="6766560" cy="50292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Goal for demo day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A student enters courses and receives an evidence-backed workload-risk report.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933</Words>
  <Application>Microsoft Office PowerPoint</Application>
  <PresentationFormat>Widescreen</PresentationFormat>
  <Paragraphs>162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UMD DATA/MSAI/MSML 641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TerpLoad Mid-Semester Presentation</dc:title>
  <dc:subject>Mid-Semester Project Presentation</dc:subject>
  <dc:creator>TerpLoad Team</dc:creator>
  <cp:lastModifiedBy>moataz osama</cp:lastModifiedBy>
  <cp:revision>2</cp:revision>
  <dcterms:created xsi:type="dcterms:W3CDTF">2026-07-13T23:23:00Z</dcterms:created>
  <dcterms:modified xsi:type="dcterms:W3CDTF">2026-07-14T00:06:25Z</dcterms:modified>
</cp:coreProperties>
</file>